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81F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26561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BF8FF"/>
                </a:solidFill>
              </a:defRPr>
            </a:pPr>
            <a:r>
              <a:t>NorthMart Analytical Data Platform</a:t>
            </a:r>
          </a:p>
          <a:p>
            <a:pPr>
              <a:spcBef>
                <a:spcPts val="1400"/>
              </a:spcBef>
              <a:defRPr sz="1800" b="1">
                <a:solidFill>
                  <a:srgbClr val="81F3E5"/>
                </a:solidFill>
              </a:defRPr>
            </a:pPr>
            <a:r>
              <a:t>PA1: From Raw Files to a Kimball Star Schema in DuckDB &amp; Parquet</a:t>
            </a:r>
          </a:p>
          <a:p>
            <a:pPr>
              <a:spcBef>
                <a:spcPts val="2800"/>
              </a:spcBef>
              <a:defRPr sz="1300">
                <a:solidFill>
                  <a:srgbClr val="A0A2C0"/>
                </a:solidFill>
              </a:defRPr>
            </a:pPr>
            <a:r>
              <a:t>Data Engineering (2026/2027) | Instituto Politécnico de Bragança (IPB / UPB)</a:t>
            </a:r>
            <a:br/>
            <a:r>
              <a:t>Oral Defense &amp; System Implementation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BF8FF"/>
                </a:solidFill>
                <a:latin typeface="Arial"/>
              </a:defRPr>
            </a:pPr>
            <a:r>
              <a:t>Business Scenario &amp; Analytical Bottlenecks</a:t>
            </a:r>
          </a:p>
          <a:p>
            <a:pPr>
              <a:defRPr sz="1300">
                <a:solidFill>
                  <a:srgbClr val="81F3E5"/>
                </a:solidFill>
                <a:latin typeface="Arial"/>
              </a:defRPr>
            </a:pPr>
            <a:r>
              <a:t>Why NorthMart needed a dedicated dimensional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F3E5"/>
                </a:solidFill>
              </a:defRPr>
            </a:pPr>
            <a:r>
              <a:t>The Operational Problem (As-Is)</a:t>
            </a:r>
          </a:p>
          <a:p>
            <a:pPr>
              <a:spcBef>
                <a:spcPts val="1200"/>
              </a:spcBef>
              <a:defRPr sz="1200" b="1">
                <a:solidFill>
                  <a:srgbClr val="FBF8FF"/>
                </a:solidFill>
              </a:defRPr>
            </a:pPr>
            <a:r>
              <a:t>• Disorganized Data Islands: </a:t>
            </a:r>
          </a:p>
          <a:p>
            <a:pPr>
              <a:defRPr sz="1100">
                <a:solidFill>
                  <a:srgbClr val="A0A2C0"/>
                </a:solidFill>
              </a:defRPr>
            </a:pPr>
            <a:r>
              <a:t>   Analysts queried 9 separate CSV exports (~121 MB) and a nested JSON file directly.</a:t>
            </a:r>
          </a:p>
          <a:p>
            <a:pPr>
              <a:spcBef>
                <a:spcPts val="1200"/>
              </a:spcBef>
              <a:defRPr sz="1200" b="1">
                <a:solidFill>
                  <a:srgbClr val="FBF8FF"/>
                </a:solidFill>
              </a:defRPr>
            </a:pPr>
            <a:r>
              <a:t>• Slow, Wasteful Scans: </a:t>
            </a:r>
          </a:p>
          <a:p>
            <a:pPr>
              <a:defRPr sz="1100">
                <a:solidFill>
                  <a:srgbClr val="A0A2C0"/>
                </a:solidFill>
              </a:defRPr>
            </a:pPr>
            <a:r>
              <a:t>   Queries parsed raw CSV text on every run, repeating disk reads and type inference.</a:t>
            </a:r>
          </a:p>
          <a:p>
            <a:pPr>
              <a:spcBef>
                <a:spcPts val="1200"/>
              </a:spcBef>
              <a:defRPr sz="1200" b="1">
                <a:solidFill>
                  <a:srgbClr val="FBF8FF"/>
                </a:solidFill>
              </a:defRPr>
            </a:pPr>
            <a:r>
              <a:t>• Inconsistent Joins: </a:t>
            </a:r>
          </a:p>
          <a:p>
            <a:pPr>
              <a:defRPr sz="1100">
                <a:solidFill>
                  <a:srgbClr val="A0A2C0"/>
                </a:solidFill>
              </a:defRPr>
            </a:pPr>
            <a:r>
              <a:t>   Different analysts joined tables differently, producing conflicting KPI reports.</a:t>
            </a:r>
          </a:p>
          <a:p>
            <a:pPr>
              <a:spcBef>
                <a:spcPts val="1200"/>
              </a:spcBef>
              <a:defRPr sz="1200" b="1">
                <a:solidFill>
                  <a:srgbClr val="FBF8FF"/>
                </a:solidFill>
              </a:defRPr>
            </a:pPr>
            <a:r>
              <a:t>• Dirty Operational Feeds: </a:t>
            </a:r>
          </a:p>
          <a:p>
            <a:pPr>
              <a:defRPr sz="1100">
                <a:solidFill>
                  <a:srgbClr val="A0A2C0"/>
                </a:solidFill>
              </a:defRPr>
            </a:pPr>
            <a:r>
              <a:t>   JSON exports contained temporal duplicate seller profiles, missing SLA fields, and malformed casings.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F3E5"/>
                </a:solidFill>
              </a:defRPr>
            </a:pPr>
            <a:r>
              <a:t>The Engineering Solution (To-Be)</a:t>
            </a:r>
          </a:p>
          <a:p>
            <a:pPr>
              <a:spcBef>
                <a:spcPts val="1200"/>
              </a:spcBef>
              <a:defRPr sz="1200" b="1">
                <a:solidFill>
                  <a:srgbClr val="FBF8FF"/>
                </a:solidFill>
              </a:defRPr>
            </a:pPr>
            <a:r>
              <a:t>✔ Kimball Dimensional Star Schema: </a:t>
            </a:r>
          </a:p>
          <a:p>
            <a:pPr>
              <a:defRPr sz="1100">
                <a:solidFill>
                  <a:srgbClr val="A0A2C0"/>
                </a:solidFill>
              </a:defRPr>
            </a:pPr>
            <a:r>
              <a:t>   Single conformed fact table at order-item grain surrounded by 4 clean dimensions.</a:t>
            </a:r>
          </a:p>
          <a:p>
            <a:pPr>
              <a:spcBef>
                <a:spcPts val="1200"/>
              </a:spcBef>
              <a:defRPr sz="1200" b="1">
                <a:solidFill>
                  <a:srgbClr val="FBF8FF"/>
                </a:solidFill>
              </a:defRPr>
            </a:pPr>
            <a:r>
              <a:t>✔ Embedded DuckDB Engine: </a:t>
            </a:r>
          </a:p>
          <a:p>
            <a:pPr>
              <a:defRPr sz="1100">
                <a:solidFill>
                  <a:srgbClr val="A0A2C0"/>
                </a:solidFill>
              </a:defRPr>
            </a:pPr>
            <a:r>
              <a:t>   Vectorized in-memory SQL execution eliminating heavyweight cluster overhead.</a:t>
            </a:r>
          </a:p>
          <a:p>
            <a:pPr>
              <a:spcBef>
                <a:spcPts val="1200"/>
              </a:spcBef>
              <a:defRPr sz="1200" b="1">
                <a:solidFill>
                  <a:srgbClr val="FBF8FF"/>
                </a:solidFill>
              </a:defRPr>
            </a:pPr>
            <a:r>
              <a:t>✔ Curated Parquet Storage: </a:t>
            </a:r>
          </a:p>
          <a:p>
            <a:pPr>
              <a:defRPr sz="1100">
                <a:solidFill>
                  <a:srgbClr val="A0A2C0"/>
                </a:solidFill>
              </a:defRPr>
            </a:pPr>
            <a:r>
              <a:t>   Columnar compression reducing disk footprint by 97.1% with partition pruning.</a:t>
            </a:r>
          </a:p>
          <a:p>
            <a:pPr>
              <a:spcBef>
                <a:spcPts val="1200"/>
              </a:spcBef>
              <a:defRPr sz="1200" b="1">
                <a:solidFill>
                  <a:srgbClr val="FBF8FF"/>
                </a:solidFill>
              </a:defRPr>
            </a:pPr>
            <a:r>
              <a:t>✔ Automated Quality Gates: </a:t>
            </a:r>
          </a:p>
          <a:p>
            <a:pPr>
              <a:defRPr sz="1100">
                <a:solidFill>
                  <a:srgbClr val="A0A2C0"/>
                </a:solidFill>
              </a:defRPr>
            </a:pPr>
            <a:r>
              <a:t>   Surrogate keys and referential integrity assertions ensuring zero orphaned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BF8FF"/>
                </a:solidFill>
                <a:latin typeface="Arial"/>
              </a:defRPr>
            </a:pPr>
            <a:r>
              <a:t>Task 1: Raw Data Profiling &amp; Empirical Findings</a:t>
            </a:r>
          </a:p>
          <a:p>
            <a:pPr>
              <a:defRPr sz="1300">
                <a:solidFill>
                  <a:srgbClr val="81F3E5"/>
                </a:solidFill>
                <a:latin typeface="Arial"/>
              </a:defRPr>
            </a:pPr>
            <a:r>
              <a:t>Conducted in DuckDB over 121.4 MB of raw CSVs and 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841248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F3E5"/>
                </a:solidFill>
              </a:defRPr>
            </a:pPr>
            <a:r>
              <a:t>Finding 1: JSON Duplication (25 Duplicates)</a:t>
            </a:r>
          </a:p>
          <a:p>
            <a:pPr>
              <a:defRPr sz="1100">
                <a:solidFill>
                  <a:srgbClr val="A0A2C0"/>
                </a:solidFill>
              </a:defRPr>
            </a:pPr>
            <a:r>
              <a:t>The JSON export has 3,095 rows but only 3,070 unique sellers. Multiple records represent state updates over time (e.g. seller dc120d93... updated in 2017 and 2018).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728655" cy="841248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0487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F3E5"/>
                </a:solidFill>
              </a:defRPr>
            </a:pPr>
            <a:r>
              <a:t>Finding 2: Dirty JSON Tiers &amp; Null SLA</a:t>
            </a:r>
          </a:p>
          <a:p>
            <a:pPr>
              <a:defRPr sz="1100">
                <a:solidFill>
                  <a:srgbClr val="A0A2C0"/>
                </a:solidFill>
              </a:defRPr>
            </a:pPr>
            <a:r>
              <a:t>profile.tier contains 9 distinct raw casing variants ('Silver ', 'SILVER', 'silver'). 30 sellers (0.97%) have completely null shipping objects.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728655" cy="841248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6499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F8FF"/>
                </a:solidFill>
              </a:defRPr>
            </a:pPr>
            <a:r>
              <a:t>Finding 3: CSV vs JSON Seller Discrepancies</a:t>
            </a:r>
          </a:p>
          <a:p>
            <a:pPr>
              <a:defRPr sz="1100">
                <a:solidFill>
                  <a:srgbClr val="A0A2C0"/>
                </a:solidFill>
              </a:defRPr>
            </a:pPr>
            <a:r>
              <a:t>40 sellers in the CSV master are absent from the JSON export; 15 sellers in JSON are absent from CSV orders. Required LEFT JOIN with conformed defaults.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10728655" cy="841248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2511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F8FF"/>
                </a:solidFill>
              </a:defRPr>
            </a:pPr>
            <a:r>
              <a:t>Finding 4: Order Granularity &amp; Lifecycle Nulls</a:t>
            </a:r>
          </a:p>
          <a:p>
            <a:pPr>
              <a:defRPr sz="1100">
                <a:solidFill>
                  <a:srgbClr val="A0A2C0"/>
                </a:solidFill>
              </a:defRPr>
            </a:pPr>
            <a:r>
              <a:t>99,441 orders generate 112,650 order items (1:N, max 21 items/order). 2,965 orders (2.98%) lack customer delivery dates (in-transit/cancelled).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728655" cy="841248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8523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F8FF"/>
                </a:solidFill>
              </a:defRPr>
            </a:pPr>
            <a:r>
              <a:t>Finding 5: Catalog Nulls &amp; Missing Translations</a:t>
            </a:r>
          </a:p>
          <a:p>
            <a:pPr>
              <a:defRPr sz="1100">
                <a:solidFill>
                  <a:srgbClr val="A0A2C0"/>
                </a:solidFill>
              </a:defRPr>
            </a:pPr>
            <a:r>
              <a:t>610 products have null category names; 2 Portuguese categories lack English translations. Resolved via Kimball 'unknown' imputation.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BF8FF"/>
                </a:solidFill>
                <a:latin typeface="Arial"/>
              </a:defRPr>
            </a:pPr>
            <a:r>
              <a:t>Task 2: Kimball Star Schema Architecture</a:t>
            </a:r>
          </a:p>
          <a:p>
            <a:pPr>
              <a:defRPr sz="1300">
                <a:solidFill>
                  <a:srgbClr val="81F3E5"/>
                </a:solidFill>
                <a:latin typeface="Arial"/>
              </a:defRPr>
            </a:pPr>
            <a:r>
              <a:t>Single fact table, conformed dimensions, and explicit grain declaration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F3E5"/>
                </a:solidFill>
              </a:defRPr>
            </a:pPr>
            <a:r>
              <a:t>Core Architectural Specifications</a:t>
            </a:r>
          </a:p>
          <a:p>
            <a:pPr>
              <a:spcBef>
                <a:spcPts val="1000"/>
              </a:spcBef>
              <a:defRPr sz="1200" b="1">
                <a:solidFill>
                  <a:srgbClr val="FBF8FF"/>
                </a:solidFill>
              </a:defRPr>
            </a:pPr>
            <a:r>
              <a:t>1. Declared Grain (Kimball Rule):</a:t>
            </a:r>
          </a:p>
          <a:p>
            <a:pPr>
              <a:defRPr sz="1100" i="1">
                <a:solidFill>
                  <a:srgbClr val="81F3E5"/>
                </a:solidFill>
              </a:defRPr>
            </a:pPr>
            <a:r>
              <a:t>   "One row per line item within an order placed on the NorthMart marketplace."</a:t>
            </a:r>
          </a:p>
          <a:p>
            <a:pPr>
              <a:spcBef>
                <a:spcPts val="1000"/>
              </a:spcBef>
              <a:defRPr sz="1200" b="1">
                <a:solidFill>
                  <a:srgbClr val="FBF8FF"/>
                </a:solidFill>
              </a:defRPr>
            </a:pPr>
            <a:r>
              <a:t>2. Fully Additive Measures:</a:t>
            </a:r>
          </a:p>
          <a:p>
            <a:pPr>
              <a:defRPr sz="1100">
                <a:solidFill>
                  <a:srgbClr val="A0A2C0"/>
                </a:solidFill>
              </a:defRPr>
            </a:pPr>
            <a:r>
              <a:t>   • price, freight_value, total_item_value, quantity (constant 1)</a:t>
            </a:r>
          </a:p>
          <a:p>
            <a:pPr>
              <a:spcBef>
                <a:spcPts val="1000"/>
              </a:spcBef>
              <a:defRPr sz="1200" b="1">
                <a:solidFill>
                  <a:srgbClr val="FBF8FF"/>
                </a:solidFill>
              </a:defRPr>
            </a:pPr>
            <a:r>
              <a:t>3. Non-Obvious Modelling Decisions:</a:t>
            </a:r>
          </a:p>
          <a:p>
            <a:pPr>
              <a:defRPr sz="1100">
                <a:solidFill>
                  <a:srgbClr val="A0A2C0"/>
                </a:solidFill>
              </a:defRPr>
            </a:pPr>
            <a:r>
              <a:t>   • Primary Date: Anchored to order purchase date (not delivery date, which has 2,965 nulls).</a:t>
            </a:r>
            <a:br/>
            <a:r>
              <a:t>   • Degenerate Dimension: order_id kept in fact table to eliminate unnecessary join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ar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846320" cy="33318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BF8FF"/>
                </a:solidFill>
                <a:latin typeface="Arial"/>
              </a:defRPr>
            </a:pPr>
            <a:r>
              <a:t>Task 3: Pipeline Implementation &amp; Quality Gates</a:t>
            </a:r>
          </a:p>
          <a:p>
            <a:pPr>
              <a:defRPr sz="1300">
                <a:solidFill>
                  <a:srgbClr val="81F3E5"/>
                </a:solidFill>
                <a:latin typeface="Arial"/>
              </a:defRPr>
            </a:pPr>
            <a:r>
              <a:t>Pure SQL transformation pipeline in DuckDB with zero-orphan referential checks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F3E5"/>
                </a:solidFill>
              </a:defRPr>
            </a:pPr>
            <a:r>
              <a:t>Dimensional ETL Highlights</a:t>
            </a:r>
          </a:p>
          <a:p>
            <a:pPr>
              <a:spcBef>
                <a:spcPts val="800"/>
              </a:spcBef>
              <a:defRPr sz="1200" b="1">
                <a:solidFill>
                  <a:srgbClr val="FBF8FF"/>
                </a:solidFill>
              </a:defRPr>
            </a:pPr>
            <a:r>
              <a:t>• Surrogate Keys:</a:t>
            </a:r>
          </a:p>
          <a:p>
            <a:pPr>
              <a:defRPr sz="1050">
                <a:solidFill>
                  <a:srgbClr val="A0A2C0"/>
                </a:solidFill>
              </a:defRPr>
            </a:pPr>
            <a:r>
              <a:t>   Deterministic integer keys generated with ROW_NUMBER() OVER (ORDER BY natural_key). Insulates analytical schema from upstream source system key changes.</a:t>
            </a:r>
          </a:p>
          <a:p>
            <a:pPr>
              <a:spcBef>
                <a:spcPts val="800"/>
              </a:spcBef>
              <a:defRPr sz="1200" b="1">
                <a:solidFill>
                  <a:srgbClr val="FBF8FF"/>
                </a:solidFill>
              </a:defRPr>
            </a:pPr>
            <a:r>
              <a:t>• JSON Flattening &amp; Deduplication:</a:t>
            </a:r>
          </a:p>
          <a:p>
            <a:pPr>
              <a:defRPr sz="1050">
                <a:solidFill>
                  <a:srgbClr val="A0A2C0"/>
                </a:solidFill>
              </a:defRPr>
            </a:pPr>
            <a:r>
              <a:t>   Extracted nested structs via dot-notation. Deduplicated sellers with QUALIFY ROW_NUMBER() OVER (PARTITION BY seller_id ORDER BY updated_at DESC) = 1.</a:t>
            </a:r>
          </a:p>
          <a:p>
            <a:pPr>
              <a:spcBef>
                <a:spcPts val="800"/>
              </a:spcBef>
              <a:defRPr sz="1200" b="1">
                <a:solidFill>
                  <a:srgbClr val="FBF8FF"/>
                </a:solidFill>
              </a:defRPr>
            </a:pPr>
            <a:r>
              <a:t>• Catalog Enrichment:</a:t>
            </a:r>
          </a:p>
          <a:p>
            <a:pPr>
              <a:defRPr sz="1050">
                <a:solidFill>
                  <a:srgbClr val="A0A2C0"/>
                </a:solidFill>
              </a:defRPr>
            </a:pPr>
            <a:r>
              <a:t>   Joined Portuguese catalog with English translations; mapped null categories to 'unknown'.</a:t>
            </a:r>
          </a:p>
          <a:p>
            <a:pPr>
              <a:spcBef>
                <a:spcPts val="800"/>
              </a:spcBef>
              <a:defRPr sz="1200" b="1">
                <a:solidFill>
                  <a:srgbClr val="FBF8FF"/>
                </a:solidFill>
              </a:defRPr>
            </a:pPr>
            <a:r>
              <a:t>• Preserved Fact Granularity:</a:t>
            </a:r>
          </a:p>
          <a:p>
            <a:pPr>
              <a:defRPr sz="1050">
                <a:solidFill>
                  <a:srgbClr val="A0A2C0"/>
                </a:solidFill>
              </a:defRPr>
            </a:pPr>
            <a:r>
              <a:t>   Exactly 112,650 order items loaded into fact_sales (100% data preservation).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F3E5"/>
                </a:solidFill>
              </a:defRPr>
            </a:pPr>
            <a:r>
              <a:t>Referential Integrity Validation</a:t>
            </a:r>
          </a:p>
          <a:p>
            <a:pPr>
              <a:spcBef>
                <a:spcPts val="1000"/>
              </a:spcBef>
              <a:defRPr sz="1100" b="1">
                <a:solidFill>
                  <a:srgbClr val="FBF8FF"/>
                </a:solidFill>
              </a:defRPr>
            </a:pPr>
            <a:r>
              <a:t>✔ fact_sales -&gt; dim_date: 0 Orphaned Keys [PASSED]</a:t>
            </a:r>
          </a:p>
          <a:p>
            <a:pPr>
              <a:spcBef>
                <a:spcPts val="1000"/>
              </a:spcBef>
              <a:defRPr sz="1100" b="1">
                <a:solidFill>
                  <a:srgbClr val="FBF8FF"/>
                </a:solidFill>
              </a:defRPr>
            </a:pPr>
            <a:r>
              <a:t>✔ fact_sales -&gt; dim_product: 0 Orphaned Keys [PASSED]</a:t>
            </a:r>
          </a:p>
          <a:p>
            <a:pPr>
              <a:spcBef>
                <a:spcPts val="1000"/>
              </a:spcBef>
              <a:defRPr sz="1100" b="1">
                <a:solidFill>
                  <a:srgbClr val="FBF8FF"/>
                </a:solidFill>
              </a:defRPr>
            </a:pPr>
            <a:r>
              <a:t>✔ fact_sales -&gt; dim_customer: 0 Orphaned Keys [PASSED]</a:t>
            </a:r>
          </a:p>
          <a:p>
            <a:pPr>
              <a:spcBef>
                <a:spcPts val="1000"/>
              </a:spcBef>
              <a:defRPr sz="1100" b="1">
                <a:solidFill>
                  <a:srgbClr val="FBF8FF"/>
                </a:solidFill>
              </a:defRPr>
            </a:pPr>
            <a:r>
              <a:t>✔ fact_sales -&gt; dim_seller: 0 Orphaned Keys [PASSED]</a:t>
            </a:r>
          </a:p>
          <a:p>
            <a:pPr>
              <a:spcBef>
                <a:spcPts val="1000"/>
              </a:spcBef>
              <a:defRPr sz="1100" b="1">
                <a:solidFill>
                  <a:srgbClr val="FBF8FF"/>
                </a:solidFill>
              </a:defRPr>
            </a:pPr>
            <a:r>
              <a:t>✔ Price / Freight Measures: No Negative Values [PASSED]</a:t>
            </a:r>
          </a:p>
          <a:p>
            <a:pPr>
              <a:spcBef>
                <a:spcPts val="1000"/>
              </a:spcBef>
              <a:defRPr sz="1100" b="1">
                <a:solidFill>
                  <a:srgbClr val="FBF8FF"/>
                </a:solidFill>
              </a:defRPr>
            </a:pPr>
            <a:r>
              <a:t>✔ Grain Uniqueness Check: 0 Key Collisions [PASSED]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BF8FF"/>
                </a:solidFill>
                <a:latin typeface="Arial"/>
              </a:defRPr>
            </a:pPr>
            <a:r>
              <a:t>Task 4: Storage Footprints &amp; Performance Benchmarks</a:t>
            </a:r>
          </a:p>
          <a:p>
            <a:pPr>
              <a:defRPr sz="1300">
                <a:solidFill>
                  <a:srgbClr val="81F3E5"/>
                </a:solidFill>
                <a:latin typeface="Arial"/>
              </a:defRPr>
            </a:pPr>
            <a:r>
              <a:t>Empirical measurement across CSV vs Parquet Unpartitioned vs Parquet Partitioned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F3E5"/>
                </a:solidFill>
              </a:defRPr>
            </a:pPr>
            <a:r>
              <a:t>1. Storage Footprint Comparison</a:t>
            </a:r>
          </a:p>
          <a:p>
            <a:pPr>
              <a:spcBef>
                <a:spcPts val="800"/>
              </a:spcBef>
              <a:defRPr sz="1200">
                <a:solidFill>
                  <a:srgbClr val="FBF8FF"/>
                </a:solidFill>
              </a:defRPr>
            </a:pPr>
            <a:r>
              <a:t>• Full Raw Source (9 CSVs + 1 JSON): 121.40 MB (Baseline)</a:t>
            </a:r>
            <a:br/>
            <a:r>
              <a:t>• Curated Parquet Unpartitioned (fact_sales.parquet): 3.49 MB  --&gt;  97.1% Storage Reduction</a:t>
            </a:r>
            <a:br/>
            <a:r>
              <a:t>• Curated Parquet Partitioned (24 Month Directories): 3.63 MB  --&gt;  97.0% Storage 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10728655" cy="256032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F3E5"/>
                </a:solidFill>
              </a:defRPr>
            </a:pPr>
            <a:r>
              <a:t>2. Query Execution Latency (Average of 5 Runs in DuckDB)</a:t>
            </a:r>
          </a:p>
          <a:p>
            <a:pPr>
              <a:spcBef>
                <a:spcPts val="600"/>
              </a:spcBef>
              <a:defRPr sz="1100">
                <a:solidFill>
                  <a:srgbClr val="FBF8FF"/>
                </a:solidFill>
              </a:defRPr>
            </a:pPr>
            <a:r>
              <a:t>• Query 1 (Monthly Revenue Over Whole Period):</a:t>
            </a:r>
            <a:br/>
            <a:r>
              <a:t>   CSV: 190.65 ms  |  Parquet: 11.02 ms  |  Partitioned: 8.14 ms  --&gt;  23.4x Faster</a:t>
            </a:r>
            <a:br/>
            <a:r>
              <a:t>• Query 2 (Single Month Revenue &amp; Items - 2018-05):</a:t>
            </a:r>
            <a:br/>
            <a:r>
              <a:t>   CSV: 171.30 ms  |  Parquet: 6.94 ms   |  Partitioned: 3.07 ms  --&gt;  55.8x Faster (Partition Pruning)</a:t>
            </a:r>
            <a:br/>
            <a:r>
              <a:t>• Query 3 (Top 5 Product Categories by Revenue):</a:t>
            </a:r>
            <a:br/>
            <a:r>
              <a:t>   CSV: 135.20 ms  |  Parquet: 15.46 ms  |  Partitioned: 12.08 ms  --&gt;  11.2x Faster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BF8FF"/>
                </a:solidFill>
                <a:latin typeface="Arial"/>
              </a:defRPr>
            </a:pPr>
            <a:r>
              <a:t>Task 5: Architectural Justification (Warehouse vs Lake vs Lakehouse)</a:t>
            </a:r>
          </a:p>
          <a:p>
            <a:pPr>
              <a:defRPr sz="1300">
                <a:solidFill>
                  <a:srgbClr val="81F3E5"/>
                </a:solidFill>
                <a:latin typeface="Arial"/>
              </a:defRPr>
            </a:pPr>
            <a:r>
              <a:t>NorthMart is best served by a Lakehouse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4AB"/>
                </a:solidFill>
              </a:defRPr>
            </a:pPr>
            <a:r>
              <a:t>Data Warehouse</a:t>
            </a:r>
          </a:p>
          <a:p>
            <a:pPr>
              <a:spcBef>
                <a:spcPts val="1000"/>
              </a:spcBef>
              <a:defRPr sz="1100">
                <a:solidFill>
                  <a:srgbClr val="A0A2C0"/>
                </a:solidFill>
              </a:defRPr>
            </a:pPr>
            <a:r>
              <a:t>❌ Excessive Cost</a:t>
            </a:r>
            <a:br/>
            <a:r>
              <a:t>Proprietary storage and compute licensing (Snowflake, BigQuery) is wasteful for 112k rows.</a:t>
            </a:r>
            <a:br/>
            <a:br/>
            <a:r>
              <a:t>❌ Rigid Schemas</a:t>
            </a:r>
            <a:br/>
            <a:r>
              <a:t>Slow to adapt to new unstructured feeds.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4AB"/>
                </a:solidFill>
              </a:defRPr>
            </a:pPr>
            <a:r>
              <a:t>Data Lake</a:t>
            </a:r>
          </a:p>
          <a:p>
            <a:pPr>
              <a:spcBef>
                <a:spcPts val="1000"/>
              </a:spcBef>
              <a:defRPr sz="1100">
                <a:solidFill>
                  <a:srgbClr val="A0A2C0"/>
                </a:solidFill>
              </a:defRPr>
            </a:pPr>
            <a:r>
              <a:t>❌ Becomes a 'Data Swamp'</a:t>
            </a:r>
            <a:br/>
            <a:r>
              <a:t>No schema enforcement, no ACID transactions, and no table catalogue.</a:t>
            </a:r>
            <a:br/>
            <a:br/>
            <a:r>
              <a:t>❌ Unreliable Reports</a:t>
            </a:r>
            <a:br/>
            <a:r>
              <a:t>Concurrent writes cause corrupt reads and divergent joins.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81F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F3E5"/>
                </a:solidFill>
              </a:defRPr>
            </a:pPr>
            <a:r>
              <a:t>Data Lakehouse</a:t>
            </a:r>
          </a:p>
          <a:p>
            <a:pPr>
              <a:spcBef>
                <a:spcPts val="1000"/>
              </a:spcBef>
              <a:defRPr sz="1100">
                <a:solidFill>
                  <a:srgbClr val="FBF8FF"/>
                </a:solidFill>
              </a:defRPr>
            </a:pPr>
            <a:r>
              <a:t>✔ Fact 1: 97.1% Storage Saving</a:t>
            </a:r>
            <a:br/>
            <a:r>
              <a:t>Parquet reduces 121.4 MB raw CSV to 3.49 MB open storage.</a:t>
            </a:r>
            <a:br/>
            <a:br/>
            <a:r>
              <a:t>✔ Fact 2: 55.8x Latency Drop</a:t>
            </a:r>
            <a:br/>
            <a:r>
              <a:t>Single-month queries drop from 171 ms to 3.07 ms via partition pruning.</a:t>
            </a:r>
            <a:br/>
            <a:br/>
            <a:r>
              <a:t>✔ ACID &amp; Interoperability</a:t>
            </a:r>
            <a:br/>
            <a:r>
              <a:t>Open files with zero SaaS vendor lock-in.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BF8FF"/>
                </a:solidFill>
                <a:latin typeface="Arial"/>
              </a:defRPr>
            </a:pPr>
            <a:r>
              <a:t>Oral Defense Conceptual Cheat Sheet</a:t>
            </a:r>
          </a:p>
          <a:p>
            <a:pPr>
              <a:defRPr sz="1300">
                <a:solidFill>
                  <a:srgbClr val="81F3E5"/>
                </a:solidFill>
                <a:latin typeface="Arial"/>
              </a:defRPr>
            </a:pPr>
            <a:r>
              <a:t>Essential concepts required for individual examination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141732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F3E5"/>
                </a:solidFill>
              </a:defRPr>
            </a:pPr>
            <a:r>
              <a:t>Surrogate Keys</a:t>
            </a:r>
          </a:p>
          <a:p>
            <a:pPr>
              <a:spcBef>
                <a:spcPts val="400"/>
              </a:spcBef>
              <a:defRPr sz="1050">
                <a:solidFill>
                  <a:srgbClr val="A0A2C0"/>
                </a:solidFill>
              </a:defRPr>
            </a:pPr>
            <a:r>
              <a:t>Integer keys created by the warehouse. Faster joins, isolates schema from operational changes, enables SCD Type 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141732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481328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F3E5"/>
                </a:solidFill>
              </a:defRPr>
            </a:pPr>
            <a:r>
              <a:t>Grain Declaration</a:t>
            </a:r>
          </a:p>
          <a:p>
            <a:pPr>
              <a:spcBef>
                <a:spcPts val="400"/>
              </a:spcBef>
              <a:defRPr sz="1050">
                <a:solidFill>
                  <a:srgbClr val="A0A2C0"/>
                </a:solidFill>
              </a:defRPr>
            </a:pPr>
            <a:r>
              <a:t>The single sentence defining what 1 row is. Must be declared first to prevent incorrect aggregations.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257800" cy="141732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81528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F3E5"/>
                </a:solidFill>
              </a:defRPr>
            </a:pPr>
            <a:r>
              <a:t>Degenerate Dimension</a:t>
            </a:r>
          </a:p>
          <a:p>
            <a:pPr>
              <a:spcBef>
                <a:spcPts val="400"/>
              </a:spcBef>
              <a:defRPr sz="1050">
                <a:solidFill>
                  <a:srgbClr val="A0A2C0"/>
                </a:solidFill>
              </a:defRPr>
            </a:pPr>
            <a:r>
              <a:t>Dimension attribute kept in the fact table without its own table (order_id). Avoids unnecessary joins.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971800"/>
            <a:ext cx="5257800" cy="141732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081528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F3E5"/>
                </a:solidFill>
              </a:defRPr>
            </a:pPr>
            <a:r>
              <a:t>Partition Pruning</a:t>
            </a:r>
          </a:p>
          <a:p>
            <a:pPr>
              <a:spcBef>
                <a:spcPts val="400"/>
              </a:spcBef>
              <a:defRPr sz="1050">
                <a:solidFill>
                  <a:srgbClr val="A0A2C0"/>
                </a:solidFill>
              </a:defRPr>
            </a:pPr>
            <a:r>
              <a:t>Query engine skips irrelevant directories using file metadata. Q2 skips 23/24 month partitions in 3 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5257800" cy="141732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81728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F3E5"/>
                </a:solidFill>
              </a:defRPr>
            </a:pPr>
            <a:r>
              <a:t>Columnar Storage</a:t>
            </a:r>
          </a:p>
          <a:p>
            <a:pPr>
              <a:spcBef>
                <a:spcPts val="400"/>
              </a:spcBef>
              <a:defRPr sz="1050">
                <a:solidFill>
                  <a:srgbClr val="A0A2C0"/>
                </a:solidFill>
              </a:defRPr>
            </a:pPr>
            <a:r>
              <a:t>Parquet reads only queried columns and skips unneeded ones. Drastically reduces I/O compared to CSV.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572000"/>
            <a:ext cx="5257800" cy="141732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681728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F3E5"/>
                </a:solidFill>
              </a:defRPr>
            </a:pPr>
            <a:r>
              <a:t>Idempotency</a:t>
            </a:r>
          </a:p>
          <a:p>
            <a:pPr>
              <a:spcBef>
                <a:spcPts val="400"/>
              </a:spcBef>
              <a:defRPr sz="1050">
                <a:solidFill>
                  <a:srgbClr val="A0A2C0"/>
                </a:solidFill>
              </a:defRPr>
            </a:pPr>
            <a:r>
              <a:t>Pipeline can run repeatedly producing the identical clean state (CREATE OR REPLACE, OVERWRITE TRUE).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BF8FF"/>
                </a:solidFill>
                <a:latin typeface="Arial"/>
              </a:defRPr>
            </a:pPr>
            <a:r>
              <a:t>Summary &amp; Reproduction Commands</a:t>
            </a:r>
          </a:p>
          <a:p>
            <a:pPr>
              <a:defRPr sz="1300">
                <a:solidFill>
                  <a:srgbClr val="81F3E5"/>
                </a:solidFill>
                <a:latin typeface="Arial"/>
              </a:defRPr>
            </a:pPr>
            <a:r>
              <a:t>Everything runs deterministically from the repository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191A2F"/>
          </a:solidFill>
          <a:ln w="19050">
            <a:solidFill>
              <a:srgbClr val="2D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1F3E5"/>
                </a:solidFill>
              </a:defRPr>
            </a:pPr>
            <a:r>
              <a:t>Commands to Reproduce the Full Evaluation</a:t>
            </a:r>
          </a:p>
          <a:p>
            <a:pPr>
              <a:spcBef>
                <a:spcPts val="1200"/>
              </a:spcBef>
              <a:defRPr sz="1300" b="1">
                <a:solidFill>
                  <a:srgbClr val="FBF8FF"/>
                </a:solidFill>
              </a:defRPr>
            </a:pPr>
            <a:r>
              <a:t>Step 1 - Profile Raw Files:</a:t>
            </a:r>
          </a:p>
          <a:p>
            <a:pPr>
              <a:defRPr sz="1200">
                <a:solidFill>
                  <a:srgbClr val="81F3E5"/>
                </a:solidFill>
                <a:latin typeface="Courier New"/>
              </a:defRPr>
            </a:pPr>
            <a:r>
              <a:t>   $ duckdb &lt; sql/profiling.sql</a:t>
            </a:r>
          </a:p>
          <a:p>
            <a:pPr>
              <a:spcBef>
                <a:spcPts val="1200"/>
              </a:spcBef>
              <a:defRPr sz="1300" b="1">
                <a:solidFill>
                  <a:srgbClr val="FBF8FF"/>
                </a:solidFill>
              </a:defRPr>
            </a:pPr>
            <a:r>
              <a:t>Step 2 - Build Star Schema &amp; Curated Parquet:</a:t>
            </a:r>
          </a:p>
          <a:p>
            <a:pPr>
              <a:defRPr sz="1200">
                <a:solidFill>
                  <a:srgbClr val="81F3E5"/>
                </a:solidFill>
                <a:latin typeface="Courier New"/>
              </a:defRPr>
            </a:pPr>
            <a:r>
              <a:t>   $ duckdb northmart.duckdb &lt; sql/build_model.sql</a:t>
            </a:r>
          </a:p>
          <a:p>
            <a:pPr>
              <a:spcBef>
                <a:spcPts val="1200"/>
              </a:spcBef>
              <a:defRPr sz="1300" b="1">
                <a:solidFill>
                  <a:srgbClr val="FBF8FF"/>
                </a:solidFill>
              </a:defRPr>
            </a:pPr>
            <a:r>
              <a:t>Step 3 - Run Benchmark Suite:</a:t>
            </a:r>
          </a:p>
          <a:p>
            <a:pPr>
              <a:defRPr sz="1200">
                <a:solidFill>
                  <a:srgbClr val="81F3E5"/>
                </a:solidFill>
                <a:latin typeface="Courier New"/>
              </a:defRPr>
            </a:pPr>
            <a:r>
              <a:t>   $ python3 src/run_benchmark.py</a:t>
            </a:r>
          </a:p>
          <a:p>
            <a:pPr>
              <a:spcBef>
                <a:spcPts val="1200"/>
              </a:spcBef>
              <a:defRPr sz="1300" b="1">
                <a:solidFill>
                  <a:srgbClr val="FBF8FF"/>
                </a:solidFill>
              </a:defRPr>
            </a:pPr>
            <a:r>
              <a:t>Step 4 - Run Automated Quality Tests:</a:t>
            </a:r>
          </a:p>
          <a:p>
            <a:pPr>
              <a:defRPr sz="1200">
                <a:solidFill>
                  <a:srgbClr val="81F3E5"/>
                </a:solidFill>
                <a:latin typeface="Courier New"/>
              </a:defRPr>
            </a:pPr>
            <a:r>
              <a:t>   $ python3 tests/run_tests.py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